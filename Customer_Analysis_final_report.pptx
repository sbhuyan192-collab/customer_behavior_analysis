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46541D-DA90-4DD8-9C21-0058BA9E1942}" v="3" dt="2026-09-09T08:47:17.4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24303-3001-44ED-BA8A-977C3615C8A3}" type="datetimeFigureOut">
              <a:rPr lang="en-IN" smtClean="0"/>
              <a:t>09-09-2026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280B0C-A20D-4FAE-A04A-69BC57EE9D3E}" type="slidenum">
              <a:rPr lang="en-IN" smtClean="0"/>
              <a:t>‹#›</a:t>
            </a:fld>
            <a:endParaRPr lang="en-IN"/>
          </a:p>
        </p:txBody>
      </p:sp>
    </p:spTree>
    <p:extLst>
      <p:ext uri="{BB962C8B-B14F-4D97-AF65-F5344CB8AC3E}">
        <p14:creationId xmlns:p14="http://schemas.microsoft.com/office/powerpoint/2010/main" val="3904183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D280B0C-A20D-4FAE-A04A-69BC57EE9D3E}" type="slidenum">
              <a:rPr lang="en-IN" smtClean="0"/>
              <a:t>3</a:t>
            </a:fld>
            <a:endParaRPr lang="en-IN"/>
          </a:p>
        </p:txBody>
      </p:sp>
    </p:spTree>
    <p:extLst>
      <p:ext uri="{BB962C8B-B14F-4D97-AF65-F5344CB8AC3E}">
        <p14:creationId xmlns:p14="http://schemas.microsoft.com/office/powerpoint/2010/main" val="2388117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FC5D5-5219-8E7D-9153-D2B1CE542F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78FBDF-E508-0124-E5BF-D238DDF716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577FD00-06C9-F4A8-DA54-D6EEA6BFAA98}"/>
              </a:ext>
            </a:extLst>
          </p:cNvPr>
          <p:cNvSpPr>
            <a:spLocks noGrp="1"/>
          </p:cNvSpPr>
          <p:nvPr>
            <p:ph type="dt" sz="half" idx="10"/>
          </p:nvPr>
        </p:nvSpPr>
        <p:spPr/>
        <p:txBody>
          <a:bodyPr/>
          <a:lstStyle/>
          <a:p>
            <a:fld id="{884D8CC3-D4EB-4624-9B43-797D7EE43286}" type="datetimeFigureOut">
              <a:rPr lang="en-IN" smtClean="0"/>
              <a:t>09-09-2026</a:t>
            </a:fld>
            <a:endParaRPr lang="en-IN"/>
          </a:p>
        </p:txBody>
      </p:sp>
      <p:sp>
        <p:nvSpPr>
          <p:cNvPr id="5" name="Footer Placeholder 4">
            <a:extLst>
              <a:ext uri="{FF2B5EF4-FFF2-40B4-BE49-F238E27FC236}">
                <a16:creationId xmlns:a16="http://schemas.microsoft.com/office/drawing/2014/main" id="{C9B25747-C6DB-C3CA-E2F7-543AC5FB74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7B45CE-F14F-0527-8D88-D133A2792693}"/>
              </a:ext>
            </a:extLst>
          </p:cNvPr>
          <p:cNvSpPr>
            <a:spLocks noGrp="1"/>
          </p:cNvSpPr>
          <p:nvPr>
            <p:ph type="sldNum" sz="quarter" idx="12"/>
          </p:nvPr>
        </p:nvSpPr>
        <p:spPr/>
        <p:txBody>
          <a:bodyPr/>
          <a:lstStyle/>
          <a:p>
            <a:fld id="{E99E8056-D6FA-49D9-A0FE-735B87B3D563}" type="slidenum">
              <a:rPr lang="en-IN" smtClean="0"/>
              <a:t>‹#›</a:t>
            </a:fld>
            <a:endParaRPr lang="en-IN"/>
          </a:p>
        </p:txBody>
      </p:sp>
    </p:spTree>
    <p:extLst>
      <p:ext uri="{BB962C8B-B14F-4D97-AF65-F5344CB8AC3E}">
        <p14:creationId xmlns:p14="http://schemas.microsoft.com/office/powerpoint/2010/main" val="1862223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FD41E-2591-8105-7F86-8581ECFAFE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C1981D-FBA1-826D-7E99-58AB315AB4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510AD5-3F90-5D5F-9667-C07FC0C310D2}"/>
              </a:ext>
            </a:extLst>
          </p:cNvPr>
          <p:cNvSpPr>
            <a:spLocks noGrp="1"/>
          </p:cNvSpPr>
          <p:nvPr>
            <p:ph type="dt" sz="half" idx="10"/>
          </p:nvPr>
        </p:nvSpPr>
        <p:spPr/>
        <p:txBody>
          <a:bodyPr/>
          <a:lstStyle/>
          <a:p>
            <a:fld id="{884D8CC3-D4EB-4624-9B43-797D7EE43286}" type="datetimeFigureOut">
              <a:rPr lang="en-IN" smtClean="0"/>
              <a:t>09-09-2026</a:t>
            </a:fld>
            <a:endParaRPr lang="en-IN"/>
          </a:p>
        </p:txBody>
      </p:sp>
      <p:sp>
        <p:nvSpPr>
          <p:cNvPr id="5" name="Footer Placeholder 4">
            <a:extLst>
              <a:ext uri="{FF2B5EF4-FFF2-40B4-BE49-F238E27FC236}">
                <a16:creationId xmlns:a16="http://schemas.microsoft.com/office/drawing/2014/main" id="{0FBED7DC-A529-C6AE-D121-0AD0DC62C9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FBBA9A-92D0-6D04-B862-2849B5E28775}"/>
              </a:ext>
            </a:extLst>
          </p:cNvPr>
          <p:cNvSpPr>
            <a:spLocks noGrp="1"/>
          </p:cNvSpPr>
          <p:nvPr>
            <p:ph type="sldNum" sz="quarter" idx="12"/>
          </p:nvPr>
        </p:nvSpPr>
        <p:spPr/>
        <p:txBody>
          <a:bodyPr/>
          <a:lstStyle/>
          <a:p>
            <a:fld id="{E99E8056-D6FA-49D9-A0FE-735B87B3D563}" type="slidenum">
              <a:rPr lang="en-IN" smtClean="0"/>
              <a:t>‹#›</a:t>
            </a:fld>
            <a:endParaRPr lang="en-IN"/>
          </a:p>
        </p:txBody>
      </p:sp>
    </p:spTree>
    <p:extLst>
      <p:ext uri="{BB962C8B-B14F-4D97-AF65-F5344CB8AC3E}">
        <p14:creationId xmlns:p14="http://schemas.microsoft.com/office/powerpoint/2010/main" val="2716797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A73E9-DDA9-1634-F6F9-03B3081FD2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9D31C74-7AC6-6832-AF56-6D32821A2C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FFFEF9-D122-6922-0E8D-23C017E73560}"/>
              </a:ext>
            </a:extLst>
          </p:cNvPr>
          <p:cNvSpPr>
            <a:spLocks noGrp="1"/>
          </p:cNvSpPr>
          <p:nvPr>
            <p:ph type="dt" sz="half" idx="10"/>
          </p:nvPr>
        </p:nvSpPr>
        <p:spPr/>
        <p:txBody>
          <a:bodyPr/>
          <a:lstStyle/>
          <a:p>
            <a:fld id="{884D8CC3-D4EB-4624-9B43-797D7EE43286}" type="datetimeFigureOut">
              <a:rPr lang="en-IN" smtClean="0"/>
              <a:t>09-09-2026</a:t>
            </a:fld>
            <a:endParaRPr lang="en-IN"/>
          </a:p>
        </p:txBody>
      </p:sp>
      <p:sp>
        <p:nvSpPr>
          <p:cNvPr id="5" name="Footer Placeholder 4">
            <a:extLst>
              <a:ext uri="{FF2B5EF4-FFF2-40B4-BE49-F238E27FC236}">
                <a16:creationId xmlns:a16="http://schemas.microsoft.com/office/drawing/2014/main" id="{2F123F11-F3A4-CC7F-1527-640372358C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0BBB68-E005-DD1F-9701-1D0AB30366CA}"/>
              </a:ext>
            </a:extLst>
          </p:cNvPr>
          <p:cNvSpPr>
            <a:spLocks noGrp="1"/>
          </p:cNvSpPr>
          <p:nvPr>
            <p:ph type="sldNum" sz="quarter" idx="12"/>
          </p:nvPr>
        </p:nvSpPr>
        <p:spPr/>
        <p:txBody>
          <a:bodyPr/>
          <a:lstStyle/>
          <a:p>
            <a:fld id="{E99E8056-D6FA-49D9-A0FE-735B87B3D563}" type="slidenum">
              <a:rPr lang="en-IN" smtClean="0"/>
              <a:t>‹#›</a:t>
            </a:fld>
            <a:endParaRPr lang="en-IN"/>
          </a:p>
        </p:txBody>
      </p:sp>
    </p:spTree>
    <p:extLst>
      <p:ext uri="{BB962C8B-B14F-4D97-AF65-F5344CB8AC3E}">
        <p14:creationId xmlns:p14="http://schemas.microsoft.com/office/powerpoint/2010/main" val="477675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3CE52-C5DA-2E30-0DFA-D832966420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0F398A-9510-A133-41EC-1523BA3099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48C61D-D7D7-9FA5-5DD3-B77C8CEB69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A8E757-108B-63F6-727A-F44A6BC8AC53}"/>
              </a:ext>
            </a:extLst>
          </p:cNvPr>
          <p:cNvSpPr>
            <a:spLocks noGrp="1"/>
          </p:cNvSpPr>
          <p:nvPr>
            <p:ph type="dt" sz="half" idx="10"/>
          </p:nvPr>
        </p:nvSpPr>
        <p:spPr/>
        <p:txBody>
          <a:bodyPr/>
          <a:lstStyle/>
          <a:p>
            <a:fld id="{884D8CC3-D4EB-4624-9B43-797D7EE43286}" type="datetimeFigureOut">
              <a:rPr lang="en-IN" smtClean="0"/>
              <a:t>09-09-2026</a:t>
            </a:fld>
            <a:endParaRPr lang="en-IN"/>
          </a:p>
        </p:txBody>
      </p:sp>
      <p:sp>
        <p:nvSpPr>
          <p:cNvPr id="6" name="Footer Placeholder 5">
            <a:extLst>
              <a:ext uri="{FF2B5EF4-FFF2-40B4-BE49-F238E27FC236}">
                <a16:creationId xmlns:a16="http://schemas.microsoft.com/office/drawing/2014/main" id="{111DDD4C-8B0C-6E57-EA28-DB8370189C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7FA4D6-5A35-EA2D-6D67-FCB50B3F3E4A}"/>
              </a:ext>
            </a:extLst>
          </p:cNvPr>
          <p:cNvSpPr>
            <a:spLocks noGrp="1"/>
          </p:cNvSpPr>
          <p:nvPr>
            <p:ph type="sldNum" sz="quarter" idx="12"/>
          </p:nvPr>
        </p:nvSpPr>
        <p:spPr/>
        <p:txBody>
          <a:bodyPr/>
          <a:lstStyle/>
          <a:p>
            <a:fld id="{E99E8056-D6FA-49D9-A0FE-735B87B3D563}" type="slidenum">
              <a:rPr lang="en-IN" smtClean="0"/>
              <a:t>‹#›</a:t>
            </a:fld>
            <a:endParaRPr lang="en-IN"/>
          </a:p>
        </p:txBody>
      </p:sp>
    </p:spTree>
    <p:extLst>
      <p:ext uri="{BB962C8B-B14F-4D97-AF65-F5344CB8AC3E}">
        <p14:creationId xmlns:p14="http://schemas.microsoft.com/office/powerpoint/2010/main" val="2827362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CE023-D217-8954-305A-7A1F469F8CA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EB7467-0B1F-6F45-1B8B-CCDF27B77E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D5C606-7DA4-6E42-22EB-CB70F60D70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7AAC6E-6C5D-B7FF-1E20-15EC3E3380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F263E5-EC42-0F6F-BC65-6595B4D39F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AD1B64-2C58-F711-5D87-CADC6591F728}"/>
              </a:ext>
            </a:extLst>
          </p:cNvPr>
          <p:cNvSpPr>
            <a:spLocks noGrp="1"/>
          </p:cNvSpPr>
          <p:nvPr>
            <p:ph type="dt" sz="half" idx="10"/>
          </p:nvPr>
        </p:nvSpPr>
        <p:spPr/>
        <p:txBody>
          <a:bodyPr/>
          <a:lstStyle/>
          <a:p>
            <a:fld id="{884D8CC3-D4EB-4624-9B43-797D7EE43286}" type="datetimeFigureOut">
              <a:rPr lang="en-IN" smtClean="0"/>
              <a:t>09-09-2026</a:t>
            </a:fld>
            <a:endParaRPr lang="en-IN"/>
          </a:p>
        </p:txBody>
      </p:sp>
      <p:sp>
        <p:nvSpPr>
          <p:cNvPr id="8" name="Footer Placeholder 7">
            <a:extLst>
              <a:ext uri="{FF2B5EF4-FFF2-40B4-BE49-F238E27FC236}">
                <a16:creationId xmlns:a16="http://schemas.microsoft.com/office/drawing/2014/main" id="{9A522FCE-8335-EC51-077B-6DEF95A833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E3D1DCE-962C-05E3-FE65-234AFE5D0D41}"/>
              </a:ext>
            </a:extLst>
          </p:cNvPr>
          <p:cNvSpPr>
            <a:spLocks noGrp="1"/>
          </p:cNvSpPr>
          <p:nvPr>
            <p:ph type="sldNum" sz="quarter" idx="12"/>
          </p:nvPr>
        </p:nvSpPr>
        <p:spPr/>
        <p:txBody>
          <a:bodyPr/>
          <a:lstStyle/>
          <a:p>
            <a:fld id="{E99E8056-D6FA-49D9-A0FE-735B87B3D563}" type="slidenum">
              <a:rPr lang="en-IN" smtClean="0"/>
              <a:t>‹#›</a:t>
            </a:fld>
            <a:endParaRPr lang="en-IN"/>
          </a:p>
        </p:txBody>
      </p:sp>
    </p:spTree>
    <p:extLst>
      <p:ext uri="{BB962C8B-B14F-4D97-AF65-F5344CB8AC3E}">
        <p14:creationId xmlns:p14="http://schemas.microsoft.com/office/powerpoint/2010/main" val="2717154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A117D-5C07-2DA5-4907-95514ABDBC0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3C0E91E-143A-03E3-82A0-A0331AF6ABAD}"/>
              </a:ext>
            </a:extLst>
          </p:cNvPr>
          <p:cNvSpPr>
            <a:spLocks noGrp="1"/>
          </p:cNvSpPr>
          <p:nvPr>
            <p:ph type="dt" sz="half" idx="10"/>
          </p:nvPr>
        </p:nvSpPr>
        <p:spPr/>
        <p:txBody>
          <a:bodyPr/>
          <a:lstStyle/>
          <a:p>
            <a:fld id="{884D8CC3-D4EB-4624-9B43-797D7EE43286}" type="datetimeFigureOut">
              <a:rPr lang="en-IN" smtClean="0"/>
              <a:t>09-09-2026</a:t>
            </a:fld>
            <a:endParaRPr lang="en-IN"/>
          </a:p>
        </p:txBody>
      </p:sp>
      <p:sp>
        <p:nvSpPr>
          <p:cNvPr id="4" name="Footer Placeholder 3">
            <a:extLst>
              <a:ext uri="{FF2B5EF4-FFF2-40B4-BE49-F238E27FC236}">
                <a16:creationId xmlns:a16="http://schemas.microsoft.com/office/drawing/2014/main" id="{275BD0A5-60D7-679A-9474-838EFE11424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D4117E-E726-B137-CDC5-DED80ADA5D4C}"/>
              </a:ext>
            </a:extLst>
          </p:cNvPr>
          <p:cNvSpPr>
            <a:spLocks noGrp="1"/>
          </p:cNvSpPr>
          <p:nvPr>
            <p:ph type="sldNum" sz="quarter" idx="12"/>
          </p:nvPr>
        </p:nvSpPr>
        <p:spPr/>
        <p:txBody>
          <a:bodyPr/>
          <a:lstStyle/>
          <a:p>
            <a:fld id="{E99E8056-D6FA-49D9-A0FE-735B87B3D563}" type="slidenum">
              <a:rPr lang="en-IN" smtClean="0"/>
              <a:t>‹#›</a:t>
            </a:fld>
            <a:endParaRPr lang="en-IN"/>
          </a:p>
        </p:txBody>
      </p:sp>
    </p:spTree>
    <p:extLst>
      <p:ext uri="{BB962C8B-B14F-4D97-AF65-F5344CB8AC3E}">
        <p14:creationId xmlns:p14="http://schemas.microsoft.com/office/powerpoint/2010/main" val="1673332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1E0A67-D198-5B75-68DF-916145613E22}"/>
              </a:ext>
            </a:extLst>
          </p:cNvPr>
          <p:cNvSpPr>
            <a:spLocks noGrp="1"/>
          </p:cNvSpPr>
          <p:nvPr>
            <p:ph type="dt" sz="half" idx="10"/>
          </p:nvPr>
        </p:nvSpPr>
        <p:spPr/>
        <p:txBody>
          <a:bodyPr/>
          <a:lstStyle/>
          <a:p>
            <a:fld id="{884D8CC3-D4EB-4624-9B43-797D7EE43286}" type="datetimeFigureOut">
              <a:rPr lang="en-IN" smtClean="0"/>
              <a:t>09-09-2026</a:t>
            </a:fld>
            <a:endParaRPr lang="en-IN"/>
          </a:p>
        </p:txBody>
      </p:sp>
      <p:sp>
        <p:nvSpPr>
          <p:cNvPr id="3" name="Footer Placeholder 2">
            <a:extLst>
              <a:ext uri="{FF2B5EF4-FFF2-40B4-BE49-F238E27FC236}">
                <a16:creationId xmlns:a16="http://schemas.microsoft.com/office/drawing/2014/main" id="{3F9DE830-51DF-774A-EC8A-CFB5DD4CFF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BBE370D-9509-E4E7-B8D6-17E407F89020}"/>
              </a:ext>
            </a:extLst>
          </p:cNvPr>
          <p:cNvSpPr>
            <a:spLocks noGrp="1"/>
          </p:cNvSpPr>
          <p:nvPr>
            <p:ph type="sldNum" sz="quarter" idx="12"/>
          </p:nvPr>
        </p:nvSpPr>
        <p:spPr/>
        <p:txBody>
          <a:bodyPr/>
          <a:lstStyle/>
          <a:p>
            <a:fld id="{E99E8056-D6FA-49D9-A0FE-735B87B3D563}" type="slidenum">
              <a:rPr lang="en-IN" smtClean="0"/>
              <a:t>‹#›</a:t>
            </a:fld>
            <a:endParaRPr lang="en-IN"/>
          </a:p>
        </p:txBody>
      </p:sp>
    </p:spTree>
    <p:extLst>
      <p:ext uri="{BB962C8B-B14F-4D97-AF65-F5344CB8AC3E}">
        <p14:creationId xmlns:p14="http://schemas.microsoft.com/office/powerpoint/2010/main" val="4026793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0B8EC-BBE1-F41C-F01E-E1F12B2C71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B2B858F-51D4-E557-261A-AD3CDF99F4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8D13DD-3326-216C-941C-71DA017208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C30C2F-6AF2-7211-9880-72074BBE5C40}"/>
              </a:ext>
            </a:extLst>
          </p:cNvPr>
          <p:cNvSpPr>
            <a:spLocks noGrp="1"/>
          </p:cNvSpPr>
          <p:nvPr>
            <p:ph type="dt" sz="half" idx="10"/>
          </p:nvPr>
        </p:nvSpPr>
        <p:spPr/>
        <p:txBody>
          <a:bodyPr/>
          <a:lstStyle/>
          <a:p>
            <a:fld id="{884D8CC3-D4EB-4624-9B43-797D7EE43286}" type="datetimeFigureOut">
              <a:rPr lang="en-IN" smtClean="0"/>
              <a:t>09-09-2026</a:t>
            </a:fld>
            <a:endParaRPr lang="en-IN"/>
          </a:p>
        </p:txBody>
      </p:sp>
      <p:sp>
        <p:nvSpPr>
          <p:cNvPr id="6" name="Footer Placeholder 5">
            <a:extLst>
              <a:ext uri="{FF2B5EF4-FFF2-40B4-BE49-F238E27FC236}">
                <a16:creationId xmlns:a16="http://schemas.microsoft.com/office/drawing/2014/main" id="{ED5F6DE8-B264-D718-9AF5-A076FA1D92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DC09D9-8DCF-A0B9-B121-1DF5191B09BA}"/>
              </a:ext>
            </a:extLst>
          </p:cNvPr>
          <p:cNvSpPr>
            <a:spLocks noGrp="1"/>
          </p:cNvSpPr>
          <p:nvPr>
            <p:ph type="sldNum" sz="quarter" idx="12"/>
          </p:nvPr>
        </p:nvSpPr>
        <p:spPr/>
        <p:txBody>
          <a:bodyPr/>
          <a:lstStyle/>
          <a:p>
            <a:fld id="{E99E8056-D6FA-49D9-A0FE-735B87B3D563}" type="slidenum">
              <a:rPr lang="en-IN" smtClean="0"/>
              <a:t>‹#›</a:t>
            </a:fld>
            <a:endParaRPr lang="en-IN"/>
          </a:p>
        </p:txBody>
      </p:sp>
    </p:spTree>
    <p:extLst>
      <p:ext uri="{BB962C8B-B14F-4D97-AF65-F5344CB8AC3E}">
        <p14:creationId xmlns:p14="http://schemas.microsoft.com/office/powerpoint/2010/main" val="1726329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D6DCC-9548-DC76-212C-CD83EB336F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904ABE3-68BD-5BB5-BE35-45365CD368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048E82-64AC-A82F-B5EF-684ACD520B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B68DF2-79AA-007C-7C1C-405CA6860CCB}"/>
              </a:ext>
            </a:extLst>
          </p:cNvPr>
          <p:cNvSpPr>
            <a:spLocks noGrp="1"/>
          </p:cNvSpPr>
          <p:nvPr>
            <p:ph type="dt" sz="half" idx="10"/>
          </p:nvPr>
        </p:nvSpPr>
        <p:spPr/>
        <p:txBody>
          <a:bodyPr/>
          <a:lstStyle/>
          <a:p>
            <a:fld id="{884D8CC3-D4EB-4624-9B43-797D7EE43286}" type="datetimeFigureOut">
              <a:rPr lang="en-IN" smtClean="0"/>
              <a:t>09-09-2026</a:t>
            </a:fld>
            <a:endParaRPr lang="en-IN"/>
          </a:p>
        </p:txBody>
      </p:sp>
      <p:sp>
        <p:nvSpPr>
          <p:cNvPr id="6" name="Footer Placeholder 5">
            <a:extLst>
              <a:ext uri="{FF2B5EF4-FFF2-40B4-BE49-F238E27FC236}">
                <a16:creationId xmlns:a16="http://schemas.microsoft.com/office/drawing/2014/main" id="{DA070A39-BDC9-C70F-8962-5408594E4E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E90C3B-C4E7-18BF-F721-2D615DD6E6C7}"/>
              </a:ext>
            </a:extLst>
          </p:cNvPr>
          <p:cNvSpPr>
            <a:spLocks noGrp="1"/>
          </p:cNvSpPr>
          <p:nvPr>
            <p:ph type="sldNum" sz="quarter" idx="12"/>
          </p:nvPr>
        </p:nvSpPr>
        <p:spPr/>
        <p:txBody>
          <a:bodyPr/>
          <a:lstStyle/>
          <a:p>
            <a:fld id="{E99E8056-D6FA-49D9-A0FE-735B87B3D563}" type="slidenum">
              <a:rPr lang="en-IN" smtClean="0"/>
              <a:t>‹#›</a:t>
            </a:fld>
            <a:endParaRPr lang="en-IN"/>
          </a:p>
        </p:txBody>
      </p:sp>
    </p:spTree>
    <p:extLst>
      <p:ext uri="{BB962C8B-B14F-4D97-AF65-F5344CB8AC3E}">
        <p14:creationId xmlns:p14="http://schemas.microsoft.com/office/powerpoint/2010/main" val="66038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75C9-C03E-D58D-FFE8-1412A8C0EF4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4F656C-C3FC-ED01-B0E8-4236695C22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65952F-3EC5-71C1-FFF2-4522602D3F3E}"/>
              </a:ext>
            </a:extLst>
          </p:cNvPr>
          <p:cNvSpPr>
            <a:spLocks noGrp="1"/>
          </p:cNvSpPr>
          <p:nvPr>
            <p:ph type="dt" sz="half" idx="10"/>
          </p:nvPr>
        </p:nvSpPr>
        <p:spPr/>
        <p:txBody>
          <a:bodyPr/>
          <a:lstStyle/>
          <a:p>
            <a:fld id="{884D8CC3-D4EB-4624-9B43-797D7EE43286}" type="datetimeFigureOut">
              <a:rPr lang="en-IN" smtClean="0"/>
              <a:t>09-09-2026</a:t>
            </a:fld>
            <a:endParaRPr lang="en-IN"/>
          </a:p>
        </p:txBody>
      </p:sp>
      <p:sp>
        <p:nvSpPr>
          <p:cNvPr id="5" name="Footer Placeholder 4">
            <a:extLst>
              <a:ext uri="{FF2B5EF4-FFF2-40B4-BE49-F238E27FC236}">
                <a16:creationId xmlns:a16="http://schemas.microsoft.com/office/drawing/2014/main" id="{3AC41740-9C9A-E4B1-1C69-72FA62F4D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D28887-958F-D5A3-F665-F2CB1E57864E}"/>
              </a:ext>
            </a:extLst>
          </p:cNvPr>
          <p:cNvSpPr>
            <a:spLocks noGrp="1"/>
          </p:cNvSpPr>
          <p:nvPr>
            <p:ph type="sldNum" sz="quarter" idx="12"/>
          </p:nvPr>
        </p:nvSpPr>
        <p:spPr/>
        <p:txBody>
          <a:bodyPr/>
          <a:lstStyle/>
          <a:p>
            <a:fld id="{E99E8056-D6FA-49D9-A0FE-735B87B3D563}" type="slidenum">
              <a:rPr lang="en-IN" smtClean="0"/>
              <a:t>‹#›</a:t>
            </a:fld>
            <a:endParaRPr lang="en-IN"/>
          </a:p>
        </p:txBody>
      </p:sp>
    </p:spTree>
    <p:extLst>
      <p:ext uri="{BB962C8B-B14F-4D97-AF65-F5344CB8AC3E}">
        <p14:creationId xmlns:p14="http://schemas.microsoft.com/office/powerpoint/2010/main" val="175121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832141-2E6D-21EB-D20F-779B671818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E57D02-272C-FDF7-5CA7-35688F941E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AF6082-1C41-22A4-5D40-2A6E761345B5}"/>
              </a:ext>
            </a:extLst>
          </p:cNvPr>
          <p:cNvSpPr>
            <a:spLocks noGrp="1"/>
          </p:cNvSpPr>
          <p:nvPr>
            <p:ph type="dt" sz="half" idx="10"/>
          </p:nvPr>
        </p:nvSpPr>
        <p:spPr/>
        <p:txBody>
          <a:bodyPr/>
          <a:lstStyle/>
          <a:p>
            <a:fld id="{884D8CC3-D4EB-4624-9B43-797D7EE43286}" type="datetimeFigureOut">
              <a:rPr lang="en-IN" smtClean="0"/>
              <a:t>09-09-2026</a:t>
            </a:fld>
            <a:endParaRPr lang="en-IN"/>
          </a:p>
        </p:txBody>
      </p:sp>
      <p:sp>
        <p:nvSpPr>
          <p:cNvPr id="5" name="Footer Placeholder 4">
            <a:extLst>
              <a:ext uri="{FF2B5EF4-FFF2-40B4-BE49-F238E27FC236}">
                <a16:creationId xmlns:a16="http://schemas.microsoft.com/office/drawing/2014/main" id="{8E2CFC37-092C-B8A9-D5A6-7DA1AB04C2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4A2FE1-1B99-9AEA-BF5F-7521BB7FB94B}"/>
              </a:ext>
            </a:extLst>
          </p:cNvPr>
          <p:cNvSpPr>
            <a:spLocks noGrp="1"/>
          </p:cNvSpPr>
          <p:nvPr>
            <p:ph type="sldNum" sz="quarter" idx="12"/>
          </p:nvPr>
        </p:nvSpPr>
        <p:spPr/>
        <p:txBody>
          <a:bodyPr/>
          <a:lstStyle/>
          <a:p>
            <a:fld id="{E99E8056-D6FA-49D9-A0FE-735B87B3D563}" type="slidenum">
              <a:rPr lang="en-IN" smtClean="0"/>
              <a:t>‹#›</a:t>
            </a:fld>
            <a:endParaRPr lang="en-IN"/>
          </a:p>
        </p:txBody>
      </p:sp>
    </p:spTree>
    <p:extLst>
      <p:ext uri="{BB962C8B-B14F-4D97-AF65-F5344CB8AC3E}">
        <p14:creationId xmlns:p14="http://schemas.microsoft.com/office/powerpoint/2010/main" val="1375509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AAAB8B-DCC0-B6C5-0516-BD280BA423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63CFE1-B949-279D-B22C-4DFEE95EDF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02B028-D446-1903-A827-4550C46C8B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4D8CC3-D4EB-4624-9B43-797D7EE43286}" type="datetimeFigureOut">
              <a:rPr lang="en-IN" smtClean="0"/>
              <a:t>09-09-2026</a:t>
            </a:fld>
            <a:endParaRPr lang="en-IN"/>
          </a:p>
        </p:txBody>
      </p:sp>
      <p:sp>
        <p:nvSpPr>
          <p:cNvPr id="5" name="Footer Placeholder 4">
            <a:extLst>
              <a:ext uri="{FF2B5EF4-FFF2-40B4-BE49-F238E27FC236}">
                <a16:creationId xmlns:a16="http://schemas.microsoft.com/office/drawing/2014/main" id="{C4335D47-37F5-1C76-33F6-82B3F3767F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7A6FDA4-85CA-0B3D-FB05-D0838B6006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9E8056-D6FA-49D9-A0FE-735B87B3D563}" type="slidenum">
              <a:rPr lang="en-IN" smtClean="0"/>
              <a:t>‹#›</a:t>
            </a:fld>
            <a:endParaRPr lang="en-IN"/>
          </a:p>
        </p:txBody>
      </p:sp>
    </p:spTree>
    <p:extLst>
      <p:ext uri="{BB962C8B-B14F-4D97-AF65-F5344CB8AC3E}">
        <p14:creationId xmlns:p14="http://schemas.microsoft.com/office/powerpoint/2010/main" val="3362403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517B27-A23B-7139-BC27-418B21534B53}"/>
              </a:ext>
            </a:extLst>
          </p:cNvPr>
          <p:cNvSpPr txBox="1"/>
          <p:nvPr/>
        </p:nvSpPr>
        <p:spPr>
          <a:xfrm>
            <a:off x="2727198" y="1004054"/>
            <a:ext cx="6094476" cy="523220"/>
          </a:xfrm>
          <a:prstGeom prst="rect">
            <a:avLst/>
          </a:prstGeom>
          <a:noFill/>
        </p:spPr>
        <p:txBody>
          <a:bodyPr wrap="square">
            <a:spAutoFit/>
          </a:bodyPr>
          <a:lstStyle/>
          <a:p>
            <a:pPr algn="ctr"/>
            <a:r>
              <a:rPr lang="en-IN" sz="2800" b="1" dirty="0">
                <a:solidFill>
                  <a:srgbClr val="0070C0"/>
                </a:solidFill>
              </a:rPr>
              <a:t>Customer Shopping Behaviour Analysis</a:t>
            </a:r>
          </a:p>
        </p:txBody>
      </p:sp>
      <p:sp>
        <p:nvSpPr>
          <p:cNvPr id="7" name="TextBox 6">
            <a:extLst>
              <a:ext uri="{FF2B5EF4-FFF2-40B4-BE49-F238E27FC236}">
                <a16:creationId xmlns:a16="http://schemas.microsoft.com/office/drawing/2014/main" id="{7C2A3670-63FD-4EA1-5EC8-D8972008E46A}"/>
              </a:ext>
            </a:extLst>
          </p:cNvPr>
          <p:cNvSpPr txBox="1"/>
          <p:nvPr/>
        </p:nvSpPr>
        <p:spPr>
          <a:xfrm>
            <a:off x="2103120" y="1901952"/>
            <a:ext cx="2670048" cy="369332"/>
          </a:xfrm>
          <a:prstGeom prst="rect">
            <a:avLst/>
          </a:prstGeom>
          <a:noFill/>
        </p:spPr>
        <p:txBody>
          <a:bodyPr wrap="square" rtlCol="0">
            <a:spAutoFit/>
          </a:bodyPr>
          <a:lstStyle/>
          <a:p>
            <a:r>
              <a:rPr lang="en-US" dirty="0">
                <a:solidFill>
                  <a:srgbClr val="7030A0"/>
                </a:solidFill>
              </a:rPr>
              <a:t>1.</a:t>
            </a:r>
            <a:r>
              <a:rPr lang="en-US" b="1" dirty="0">
                <a:solidFill>
                  <a:srgbClr val="7030A0"/>
                </a:solidFill>
              </a:rPr>
              <a:t>Project Overview</a:t>
            </a:r>
            <a:endParaRPr lang="en-IN" b="1" dirty="0">
              <a:solidFill>
                <a:srgbClr val="7030A0"/>
              </a:solidFill>
            </a:endParaRPr>
          </a:p>
        </p:txBody>
      </p:sp>
      <p:sp>
        <p:nvSpPr>
          <p:cNvPr id="10" name="TextBox 9">
            <a:extLst>
              <a:ext uri="{FF2B5EF4-FFF2-40B4-BE49-F238E27FC236}">
                <a16:creationId xmlns:a16="http://schemas.microsoft.com/office/drawing/2014/main" id="{0C65EEE2-37D8-6A56-AB86-190F764343F0}"/>
              </a:ext>
            </a:extLst>
          </p:cNvPr>
          <p:cNvSpPr txBox="1"/>
          <p:nvPr/>
        </p:nvSpPr>
        <p:spPr>
          <a:xfrm>
            <a:off x="2386584" y="2350008"/>
            <a:ext cx="7068312" cy="1477328"/>
          </a:xfrm>
          <a:prstGeom prst="rect">
            <a:avLst/>
          </a:prstGeom>
          <a:noFill/>
        </p:spPr>
        <p:txBody>
          <a:bodyPr wrap="square" rtlCol="0">
            <a:spAutoFit/>
          </a:bodyPr>
          <a:lstStyle/>
          <a:p>
            <a:r>
              <a:rPr lang="en-US" dirty="0"/>
              <a:t>This project analyzes customer shopping behavior using transactional data from 3,900 purchases across various product categories. The goal is to uncover insights into spending patterns, customer segments, product preferences, and subscription behavior to guide strategic business decisions .</a:t>
            </a:r>
            <a:endParaRPr lang="en-IN" dirty="0"/>
          </a:p>
        </p:txBody>
      </p:sp>
      <p:sp>
        <p:nvSpPr>
          <p:cNvPr id="12" name="TextBox 11">
            <a:extLst>
              <a:ext uri="{FF2B5EF4-FFF2-40B4-BE49-F238E27FC236}">
                <a16:creationId xmlns:a16="http://schemas.microsoft.com/office/drawing/2014/main" id="{027C156A-AF91-E237-E5C8-0BAB9BE2C4BC}"/>
              </a:ext>
            </a:extLst>
          </p:cNvPr>
          <p:cNvSpPr txBox="1"/>
          <p:nvPr/>
        </p:nvSpPr>
        <p:spPr>
          <a:xfrm>
            <a:off x="2135355" y="3721394"/>
            <a:ext cx="2157984" cy="369332"/>
          </a:xfrm>
          <a:prstGeom prst="rect">
            <a:avLst/>
          </a:prstGeom>
          <a:noFill/>
        </p:spPr>
        <p:txBody>
          <a:bodyPr wrap="square" rtlCol="0">
            <a:spAutoFit/>
          </a:bodyPr>
          <a:lstStyle/>
          <a:p>
            <a:r>
              <a:rPr lang="en-US" b="1" dirty="0">
                <a:solidFill>
                  <a:srgbClr val="7030A0"/>
                </a:solidFill>
              </a:rPr>
              <a:t>2.Dataset Summary</a:t>
            </a:r>
            <a:endParaRPr lang="en-IN" b="1" dirty="0">
              <a:solidFill>
                <a:srgbClr val="7030A0"/>
              </a:solidFill>
            </a:endParaRPr>
          </a:p>
        </p:txBody>
      </p:sp>
      <p:sp>
        <p:nvSpPr>
          <p:cNvPr id="14" name="TextBox 13">
            <a:extLst>
              <a:ext uri="{FF2B5EF4-FFF2-40B4-BE49-F238E27FC236}">
                <a16:creationId xmlns:a16="http://schemas.microsoft.com/office/drawing/2014/main" id="{AE02715C-3D0C-9A48-DFA2-E69E02F4E8E6}"/>
              </a:ext>
            </a:extLst>
          </p:cNvPr>
          <p:cNvSpPr txBox="1"/>
          <p:nvPr/>
        </p:nvSpPr>
        <p:spPr>
          <a:xfrm>
            <a:off x="2216439" y="4090726"/>
            <a:ext cx="6691122" cy="2308324"/>
          </a:xfrm>
          <a:prstGeom prst="rect">
            <a:avLst/>
          </a:prstGeom>
          <a:noFill/>
        </p:spPr>
        <p:txBody>
          <a:bodyPr wrap="square" rtlCol="0">
            <a:spAutoFit/>
          </a:bodyPr>
          <a:lstStyle/>
          <a:p>
            <a:r>
              <a:rPr lang="en-US" dirty="0"/>
              <a:t>- Rows: 3,900</a:t>
            </a:r>
          </a:p>
          <a:p>
            <a:r>
              <a:rPr lang="en-US" dirty="0"/>
              <a:t>- Columns: 18</a:t>
            </a:r>
          </a:p>
          <a:p>
            <a:r>
              <a:rPr lang="en-US" dirty="0"/>
              <a:t>- Key Features:</a:t>
            </a:r>
          </a:p>
          <a:p>
            <a:r>
              <a:rPr lang="en-US" dirty="0"/>
              <a:t>- Customer demographics (Age, Gender, Location, Subscription Status)</a:t>
            </a:r>
          </a:p>
          <a:p>
            <a:r>
              <a:rPr lang="en-US" dirty="0"/>
              <a:t>- Purchase details (Item Purchased, Category, Purchase Amount, Season, Size, Color)</a:t>
            </a:r>
          </a:p>
          <a:p>
            <a:r>
              <a:rPr lang="en-US" dirty="0"/>
              <a:t>-Shopping behavior (Discount Applied, Promo Code Used, Previous Purchases, Frequency of Purchases, Review Rating, Shipping Type)</a:t>
            </a:r>
          </a:p>
        </p:txBody>
      </p:sp>
    </p:spTree>
    <p:extLst>
      <p:ext uri="{BB962C8B-B14F-4D97-AF65-F5344CB8AC3E}">
        <p14:creationId xmlns:p14="http://schemas.microsoft.com/office/powerpoint/2010/main" val="183135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896893-CBBA-7A05-0E2E-0C3C11612B37}"/>
              </a:ext>
            </a:extLst>
          </p:cNvPr>
          <p:cNvSpPr txBox="1"/>
          <p:nvPr/>
        </p:nvSpPr>
        <p:spPr>
          <a:xfrm>
            <a:off x="2170545" y="748144"/>
            <a:ext cx="4507346" cy="369332"/>
          </a:xfrm>
          <a:prstGeom prst="rect">
            <a:avLst/>
          </a:prstGeom>
          <a:noFill/>
        </p:spPr>
        <p:txBody>
          <a:bodyPr wrap="square" rtlCol="0">
            <a:spAutoFit/>
          </a:bodyPr>
          <a:lstStyle/>
          <a:p>
            <a:r>
              <a:rPr lang="en-US" b="1" dirty="0">
                <a:solidFill>
                  <a:srgbClr val="7030A0"/>
                </a:solidFill>
              </a:rPr>
              <a:t>3. Exploratory Data Analysis using Python</a:t>
            </a:r>
            <a:endParaRPr lang="en-IN" b="1" dirty="0">
              <a:solidFill>
                <a:srgbClr val="7030A0"/>
              </a:solidFill>
            </a:endParaRPr>
          </a:p>
        </p:txBody>
      </p:sp>
      <p:sp>
        <p:nvSpPr>
          <p:cNvPr id="5" name="TextBox 4">
            <a:extLst>
              <a:ext uri="{FF2B5EF4-FFF2-40B4-BE49-F238E27FC236}">
                <a16:creationId xmlns:a16="http://schemas.microsoft.com/office/drawing/2014/main" id="{AF16D8F3-E55D-89AB-0FB5-E8C39446518D}"/>
              </a:ext>
            </a:extLst>
          </p:cNvPr>
          <p:cNvSpPr txBox="1"/>
          <p:nvPr/>
        </p:nvSpPr>
        <p:spPr>
          <a:xfrm>
            <a:off x="2456874" y="1246907"/>
            <a:ext cx="6908800" cy="1477328"/>
          </a:xfrm>
          <a:prstGeom prst="rect">
            <a:avLst/>
          </a:prstGeom>
          <a:noFill/>
        </p:spPr>
        <p:txBody>
          <a:bodyPr wrap="square" rtlCol="0">
            <a:spAutoFit/>
          </a:bodyPr>
          <a:lstStyle/>
          <a:p>
            <a:r>
              <a:rPr lang="en-US" dirty="0"/>
              <a:t>We began with data preparation and cleaning in Python: </a:t>
            </a:r>
          </a:p>
          <a:p>
            <a:r>
              <a:rPr lang="en-US" b="1" dirty="0"/>
              <a:t>           • Data Loading: </a:t>
            </a:r>
            <a:r>
              <a:rPr lang="en-US" dirty="0"/>
              <a:t>Imported the dataset using </a:t>
            </a:r>
            <a:r>
              <a:rPr lang="en-US" dirty="0">
                <a:solidFill>
                  <a:srgbClr val="00B050"/>
                </a:solidFill>
              </a:rPr>
              <a:t>pandas</a:t>
            </a:r>
            <a:r>
              <a:rPr lang="en-US" dirty="0"/>
              <a:t>.</a:t>
            </a:r>
          </a:p>
          <a:p>
            <a:endParaRPr lang="en-US" dirty="0"/>
          </a:p>
          <a:p>
            <a:r>
              <a:rPr lang="en-US" b="1" dirty="0"/>
              <a:t>            • Initial Exploration: </a:t>
            </a:r>
            <a:r>
              <a:rPr lang="en-US" dirty="0"/>
              <a:t>Used </a:t>
            </a:r>
            <a:r>
              <a:rPr lang="en-US" dirty="0" err="1">
                <a:solidFill>
                  <a:srgbClr val="00B050"/>
                </a:solidFill>
              </a:rPr>
              <a:t>df</a:t>
            </a:r>
            <a:r>
              <a:rPr lang="en-US" dirty="0">
                <a:solidFill>
                  <a:srgbClr val="00B050"/>
                </a:solidFill>
              </a:rPr>
              <a:t>. Info() </a:t>
            </a:r>
            <a:r>
              <a:rPr lang="en-US" dirty="0"/>
              <a:t>to check structure and </a:t>
            </a:r>
            <a:r>
              <a:rPr lang="en-US" dirty="0">
                <a:solidFill>
                  <a:srgbClr val="00B050"/>
                </a:solidFill>
              </a:rPr>
              <a:t>describe() </a:t>
            </a:r>
            <a:r>
              <a:rPr lang="en-US" dirty="0"/>
              <a:t>for summary statistics . </a:t>
            </a:r>
            <a:endParaRPr lang="en-IN" dirty="0"/>
          </a:p>
        </p:txBody>
      </p:sp>
      <p:pic>
        <p:nvPicPr>
          <p:cNvPr id="7" name="Picture 6">
            <a:extLst>
              <a:ext uri="{FF2B5EF4-FFF2-40B4-BE49-F238E27FC236}">
                <a16:creationId xmlns:a16="http://schemas.microsoft.com/office/drawing/2014/main" id="{8AB6EA6E-084B-27E3-E7E6-5CB8AF6BFC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6874" y="2927639"/>
            <a:ext cx="7490690" cy="3316143"/>
          </a:xfrm>
          <a:prstGeom prst="rect">
            <a:avLst/>
          </a:prstGeom>
        </p:spPr>
      </p:pic>
      <p:sp>
        <p:nvSpPr>
          <p:cNvPr id="9" name="TextBox 8">
            <a:extLst>
              <a:ext uri="{FF2B5EF4-FFF2-40B4-BE49-F238E27FC236}">
                <a16:creationId xmlns:a16="http://schemas.microsoft.com/office/drawing/2014/main" id="{CBB0249D-307F-F167-1DD2-24B9C96072BF}"/>
              </a:ext>
            </a:extLst>
          </p:cNvPr>
          <p:cNvSpPr txBox="1"/>
          <p:nvPr/>
        </p:nvSpPr>
        <p:spPr>
          <a:xfrm>
            <a:off x="2184400" y="277110"/>
            <a:ext cx="6908800" cy="369332"/>
          </a:xfrm>
          <a:prstGeom prst="rect">
            <a:avLst/>
          </a:prstGeom>
          <a:noFill/>
        </p:spPr>
        <p:txBody>
          <a:bodyPr wrap="square" rtlCol="0">
            <a:spAutoFit/>
          </a:bodyPr>
          <a:lstStyle/>
          <a:p>
            <a:pPr marL="285750" indent="-285750">
              <a:buFontTx/>
              <a:buChar char="-"/>
            </a:pPr>
            <a:r>
              <a:rPr lang="en-US"/>
              <a:t>Missing Data: 37 values in Review Rating column</a:t>
            </a:r>
            <a:endParaRPr lang="en-US" dirty="0"/>
          </a:p>
        </p:txBody>
      </p:sp>
    </p:spTree>
    <p:extLst>
      <p:ext uri="{BB962C8B-B14F-4D97-AF65-F5344CB8AC3E}">
        <p14:creationId xmlns:p14="http://schemas.microsoft.com/office/powerpoint/2010/main" val="1978284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472D4D-9A32-A4D7-8D5E-CC5249CFB3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8787" y="979054"/>
            <a:ext cx="5145520" cy="3236768"/>
          </a:xfrm>
          <a:prstGeom prst="rect">
            <a:avLst/>
          </a:prstGeom>
        </p:spPr>
      </p:pic>
      <p:pic>
        <p:nvPicPr>
          <p:cNvPr id="5" name="Picture 4">
            <a:extLst>
              <a:ext uri="{FF2B5EF4-FFF2-40B4-BE49-F238E27FC236}">
                <a16:creationId xmlns:a16="http://schemas.microsoft.com/office/drawing/2014/main" id="{101A6B71-B92E-215D-8E56-5564DB108A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3561" y="979054"/>
            <a:ext cx="3892839" cy="3121891"/>
          </a:xfrm>
          <a:prstGeom prst="rect">
            <a:avLst/>
          </a:prstGeom>
        </p:spPr>
      </p:pic>
      <p:sp>
        <p:nvSpPr>
          <p:cNvPr id="6" name="TextBox 5">
            <a:extLst>
              <a:ext uri="{FF2B5EF4-FFF2-40B4-BE49-F238E27FC236}">
                <a16:creationId xmlns:a16="http://schemas.microsoft.com/office/drawing/2014/main" id="{97FFEF99-1F36-0D62-5789-1DFACFCD26A6}"/>
              </a:ext>
            </a:extLst>
          </p:cNvPr>
          <p:cNvSpPr txBox="1"/>
          <p:nvPr/>
        </p:nvSpPr>
        <p:spPr>
          <a:xfrm>
            <a:off x="1838042" y="411018"/>
            <a:ext cx="3892839" cy="369332"/>
          </a:xfrm>
          <a:prstGeom prst="rect">
            <a:avLst/>
          </a:prstGeom>
          <a:noFill/>
        </p:spPr>
        <p:txBody>
          <a:bodyPr wrap="square" rtlCol="0">
            <a:spAutoFit/>
          </a:bodyPr>
          <a:lstStyle/>
          <a:p>
            <a:r>
              <a:rPr lang="en-US" sz="1800" kern="1200" dirty="0" err="1">
                <a:solidFill>
                  <a:srgbClr val="00B050"/>
                </a:solidFill>
                <a:latin typeface="+mn-lt"/>
                <a:ea typeface="+mn-ea"/>
                <a:cs typeface="+mn-cs"/>
              </a:rPr>
              <a:t>df.head</a:t>
            </a:r>
            <a:r>
              <a:rPr lang="en-US" sz="1800" kern="1200" dirty="0">
                <a:solidFill>
                  <a:srgbClr val="00B050"/>
                </a:solidFill>
                <a:latin typeface="+mn-lt"/>
                <a:ea typeface="+mn-ea"/>
                <a:cs typeface="+mn-cs"/>
              </a:rPr>
              <a:t>() </a:t>
            </a:r>
            <a:r>
              <a:rPr lang="en-US" sz="1800" kern="1200" dirty="0">
                <a:solidFill>
                  <a:schemeClr val="tx1"/>
                </a:solidFill>
                <a:latin typeface="+mn-lt"/>
                <a:ea typeface="+mn-ea"/>
                <a:cs typeface="+mn-cs"/>
              </a:rPr>
              <a:t>to inspect the data set :</a:t>
            </a:r>
          </a:p>
        </p:txBody>
      </p:sp>
      <p:sp>
        <p:nvSpPr>
          <p:cNvPr id="8" name="TextBox 7">
            <a:extLst>
              <a:ext uri="{FF2B5EF4-FFF2-40B4-BE49-F238E27FC236}">
                <a16:creationId xmlns:a16="http://schemas.microsoft.com/office/drawing/2014/main" id="{1E7D963F-7BF1-946F-0C82-C052F6203A7B}"/>
              </a:ext>
            </a:extLst>
          </p:cNvPr>
          <p:cNvSpPr txBox="1"/>
          <p:nvPr/>
        </p:nvSpPr>
        <p:spPr>
          <a:xfrm>
            <a:off x="1728787" y="4414526"/>
            <a:ext cx="7140575" cy="923330"/>
          </a:xfrm>
          <a:prstGeom prst="rect">
            <a:avLst/>
          </a:prstGeom>
          <a:noFill/>
        </p:spPr>
        <p:txBody>
          <a:bodyPr wrap="square" rtlCol="0">
            <a:spAutoFit/>
          </a:bodyPr>
          <a:lstStyle/>
          <a:p>
            <a:r>
              <a:rPr lang="en-US" b="1" dirty="0">
                <a:solidFill>
                  <a:srgbClr val="7030A0"/>
                </a:solidFill>
              </a:rPr>
              <a:t>• Missing Data Handling </a:t>
            </a:r>
            <a:r>
              <a:rPr lang="en-US" dirty="0"/>
              <a:t>: Checked for null values and imputed missing values in the </a:t>
            </a:r>
            <a:r>
              <a:rPr lang="en-US" b="1" dirty="0"/>
              <a:t>Review Rating </a:t>
            </a:r>
            <a:r>
              <a:rPr lang="en-US" dirty="0"/>
              <a:t>column using the median rating of each product category.</a:t>
            </a:r>
            <a:endParaRPr lang="en-IN" dirty="0"/>
          </a:p>
        </p:txBody>
      </p:sp>
      <p:sp>
        <p:nvSpPr>
          <p:cNvPr id="16" name="TextBox 15">
            <a:extLst>
              <a:ext uri="{FF2B5EF4-FFF2-40B4-BE49-F238E27FC236}">
                <a16:creationId xmlns:a16="http://schemas.microsoft.com/office/drawing/2014/main" id="{4FFAA54B-6533-DFEF-6ABE-1C029011D5F6}"/>
              </a:ext>
            </a:extLst>
          </p:cNvPr>
          <p:cNvSpPr txBox="1"/>
          <p:nvPr/>
        </p:nvSpPr>
        <p:spPr>
          <a:xfrm>
            <a:off x="1728787" y="5536560"/>
            <a:ext cx="6724067" cy="646331"/>
          </a:xfrm>
          <a:prstGeom prst="rect">
            <a:avLst/>
          </a:prstGeom>
          <a:noFill/>
        </p:spPr>
        <p:txBody>
          <a:bodyPr wrap="square" rtlCol="0">
            <a:spAutoFit/>
          </a:bodyPr>
          <a:lstStyle/>
          <a:p>
            <a:r>
              <a:rPr lang="en-US" b="1" dirty="0">
                <a:solidFill>
                  <a:srgbClr val="7030A0"/>
                </a:solidFill>
              </a:rPr>
              <a:t>• Column Standardization</a:t>
            </a:r>
            <a:r>
              <a:rPr lang="en-US" dirty="0"/>
              <a:t>: Renamed columns to </a:t>
            </a:r>
            <a:r>
              <a:rPr lang="en-US" b="1" dirty="0"/>
              <a:t>snake case </a:t>
            </a:r>
            <a:r>
              <a:rPr lang="en-US" dirty="0"/>
              <a:t>for better readability and documentation.</a:t>
            </a:r>
            <a:endParaRPr lang="en-IN" dirty="0"/>
          </a:p>
        </p:txBody>
      </p:sp>
    </p:spTree>
    <p:extLst>
      <p:ext uri="{BB962C8B-B14F-4D97-AF65-F5344CB8AC3E}">
        <p14:creationId xmlns:p14="http://schemas.microsoft.com/office/powerpoint/2010/main" val="2883620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472071-BCCE-5C8B-7A04-416C486741BC}"/>
              </a:ext>
            </a:extLst>
          </p:cNvPr>
          <p:cNvSpPr txBox="1"/>
          <p:nvPr/>
        </p:nvSpPr>
        <p:spPr>
          <a:xfrm>
            <a:off x="1865745" y="898235"/>
            <a:ext cx="7758546" cy="923330"/>
          </a:xfrm>
          <a:prstGeom prst="rect">
            <a:avLst/>
          </a:prstGeom>
          <a:noFill/>
        </p:spPr>
        <p:txBody>
          <a:bodyPr wrap="square" rtlCol="0">
            <a:spAutoFit/>
          </a:bodyPr>
          <a:lstStyle/>
          <a:p>
            <a:r>
              <a:rPr lang="en-US" b="1" dirty="0">
                <a:solidFill>
                  <a:srgbClr val="7030A0"/>
                </a:solidFill>
              </a:rPr>
              <a:t>• Feature Engineering:</a:t>
            </a:r>
          </a:p>
          <a:p>
            <a:r>
              <a:rPr lang="en-US" dirty="0"/>
              <a:t>     • Created </a:t>
            </a:r>
            <a:r>
              <a:rPr lang="en-US" b="1" dirty="0" err="1">
                <a:solidFill>
                  <a:schemeClr val="tx1">
                    <a:lumMod val="95000"/>
                    <a:lumOff val="5000"/>
                  </a:schemeClr>
                </a:solidFill>
              </a:rPr>
              <a:t>age_group</a:t>
            </a:r>
            <a:r>
              <a:rPr lang="en-US" b="1" dirty="0">
                <a:solidFill>
                  <a:schemeClr val="tx1">
                    <a:lumMod val="95000"/>
                    <a:lumOff val="5000"/>
                  </a:schemeClr>
                </a:solidFill>
              </a:rPr>
              <a:t> </a:t>
            </a:r>
            <a:r>
              <a:rPr lang="en-US" dirty="0"/>
              <a:t>column by binning customer ages.</a:t>
            </a:r>
          </a:p>
          <a:p>
            <a:r>
              <a:rPr lang="en-US" dirty="0"/>
              <a:t>     • Created </a:t>
            </a:r>
            <a:r>
              <a:rPr lang="en-US" b="1" dirty="0" err="1"/>
              <a:t>purchase_frequency_days</a:t>
            </a:r>
            <a:r>
              <a:rPr lang="en-US" b="1" dirty="0"/>
              <a:t> </a:t>
            </a:r>
            <a:r>
              <a:rPr lang="en-US" dirty="0"/>
              <a:t>column from purchase data</a:t>
            </a:r>
            <a:endParaRPr lang="en-IN" dirty="0"/>
          </a:p>
        </p:txBody>
      </p:sp>
      <p:sp>
        <p:nvSpPr>
          <p:cNvPr id="6" name="TextBox 5">
            <a:extLst>
              <a:ext uri="{FF2B5EF4-FFF2-40B4-BE49-F238E27FC236}">
                <a16:creationId xmlns:a16="http://schemas.microsoft.com/office/drawing/2014/main" id="{2F50F571-3F51-AE2F-6156-525199F9CF81}"/>
              </a:ext>
            </a:extLst>
          </p:cNvPr>
          <p:cNvSpPr txBox="1"/>
          <p:nvPr/>
        </p:nvSpPr>
        <p:spPr>
          <a:xfrm>
            <a:off x="1995055" y="2179781"/>
            <a:ext cx="7001163" cy="646331"/>
          </a:xfrm>
          <a:prstGeom prst="rect">
            <a:avLst/>
          </a:prstGeom>
          <a:noFill/>
        </p:spPr>
        <p:txBody>
          <a:bodyPr wrap="square" rtlCol="0">
            <a:spAutoFit/>
          </a:bodyPr>
          <a:lstStyle/>
          <a:p>
            <a:r>
              <a:rPr lang="en-US" b="1" dirty="0">
                <a:solidFill>
                  <a:srgbClr val="7030A0"/>
                </a:solidFill>
              </a:rPr>
              <a:t>• Data Consistency Check: </a:t>
            </a:r>
            <a:r>
              <a:rPr lang="en-US" dirty="0"/>
              <a:t>Verified if </a:t>
            </a:r>
            <a:r>
              <a:rPr lang="en-US" b="1" dirty="0" err="1"/>
              <a:t>discount_applied</a:t>
            </a:r>
            <a:r>
              <a:rPr lang="en-US" b="1" dirty="0"/>
              <a:t> </a:t>
            </a:r>
            <a:r>
              <a:rPr lang="en-US" dirty="0"/>
              <a:t>and </a:t>
            </a:r>
            <a:r>
              <a:rPr lang="en-US" b="1" dirty="0" err="1"/>
              <a:t>promo_code_used</a:t>
            </a:r>
            <a:r>
              <a:rPr lang="en-US" b="1" dirty="0"/>
              <a:t> </a:t>
            </a:r>
            <a:r>
              <a:rPr lang="en-US" dirty="0"/>
              <a:t>were redundant; dropped </a:t>
            </a:r>
            <a:r>
              <a:rPr lang="en-US" b="1" dirty="0" err="1"/>
              <a:t>promo_code_used</a:t>
            </a:r>
            <a:r>
              <a:rPr lang="en-US" dirty="0"/>
              <a:t>.</a:t>
            </a:r>
            <a:endParaRPr lang="en-IN" dirty="0"/>
          </a:p>
        </p:txBody>
      </p:sp>
      <p:sp>
        <p:nvSpPr>
          <p:cNvPr id="8" name="TextBox 7">
            <a:extLst>
              <a:ext uri="{FF2B5EF4-FFF2-40B4-BE49-F238E27FC236}">
                <a16:creationId xmlns:a16="http://schemas.microsoft.com/office/drawing/2014/main" id="{C5FEE79D-5FF4-E860-7412-97B3C10FF6D7}"/>
              </a:ext>
            </a:extLst>
          </p:cNvPr>
          <p:cNvSpPr txBox="1"/>
          <p:nvPr/>
        </p:nvSpPr>
        <p:spPr>
          <a:xfrm flipH="1">
            <a:off x="1995054" y="2974109"/>
            <a:ext cx="6751781" cy="923330"/>
          </a:xfrm>
          <a:prstGeom prst="rect">
            <a:avLst/>
          </a:prstGeom>
          <a:noFill/>
        </p:spPr>
        <p:txBody>
          <a:bodyPr wrap="square" rtlCol="0">
            <a:spAutoFit/>
          </a:bodyPr>
          <a:lstStyle/>
          <a:p>
            <a:r>
              <a:rPr lang="en-US" b="1" dirty="0">
                <a:solidFill>
                  <a:srgbClr val="7030A0"/>
                </a:solidFill>
              </a:rPr>
              <a:t>• Database Integration: </a:t>
            </a:r>
            <a:r>
              <a:rPr lang="en-US" dirty="0"/>
              <a:t>Connected Python script to </a:t>
            </a:r>
            <a:r>
              <a:rPr lang="en-US" b="1" dirty="0"/>
              <a:t>My SQL </a:t>
            </a:r>
            <a:r>
              <a:rPr lang="en-US" dirty="0"/>
              <a:t>and loaded the cleaned</a:t>
            </a:r>
          </a:p>
          <a:p>
            <a:r>
              <a:rPr lang="en-US" dirty="0" err="1"/>
              <a:t>DataFrame</a:t>
            </a:r>
            <a:r>
              <a:rPr lang="en-US" dirty="0"/>
              <a:t> into the database for SQL analysis.</a:t>
            </a:r>
            <a:endParaRPr lang="en-IN" dirty="0"/>
          </a:p>
        </p:txBody>
      </p:sp>
      <p:sp>
        <p:nvSpPr>
          <p:cNvPr id="10" name="TextBox 9">
            <a:extLst>
              <a:ext uri="{FF2B5EF4-FFF2-40B4-BE49-F238E27FC236}">
                <a16:creationId xmlns:a16="http://schemas.microsoft.com/office/drawing/2014/main" id="{2868F954-D43C-DE0E-8185-DADE306127F9}"/>
              </a:ext>
            </a:extLst>
          </p:cNvPr>
          <p:cNvSpPr txBox="1"/>
          <p:nvPr/>
        </p:nvSpPr>
        <p:spPr>
          <a:xfrm>
            <a:off x="1995054" y="4165294"/>
            <a:ext cx="4267200" cy="461665"/>
          </a:xfrm>
          <a:prstGeom prst="rect">
            <a:avLst/>
          </a:prstGeom>
          <a:noFill/>
        </p:spPr>
        <p:txBody>
          <a:bodyPr wrap="square" rtlCol="0">
            <a:spAutoFit/>
          </a:bodyPr>
          <a:lstStyle/>
          <a:p>
            <a:r>
              <a:rPr lang="en-US" sz="2400" b="1">
                <a:solidFill>
                  <a:srgbClr val="0070C0"/>
                </a:solidFill>
              </a:rPr>
              <a:t>4. Data Analysis using SQL</a:t>
            </a:r>
            <a:endParaRPr lang="en-IN" sz="2400" b="1" dirty="0">
              <a:solidFill>
                <a:srgbClr val="0070C0"/>
              </a:solidFill>
            </a:endParaRPr>
          </a:p>
        </p:txBody>
      </p:sp>
      <p:sp>
        <p:nvSpPr>
          <p:cNvPr id="18" name="TextBox 17">
            <a:extLst>
              <a:ext uri="{FF2B5EF4-FFF2-40B4-BE49-F238E27FC236}">
                <a16:creationId xmlns:a16="http://schemas.microsoft.com/office/drawing/2014/main" id="{74ED42F3-A1AB-19CD-B9F3-276B30D9016D}"/>
              </a:ext>
            </a:extLst>
          </p:cNvPr>
          <p:cNvSpPr txBox="1"/>
          <p:nvPr/>
        </p:nvSpPr>
        <p:spPr>
          <a:xfrm>
            <a:off x="1995054" y="4828311"/>
            <a:ext cx="6391564" cy="1200329"/>
          </a:xfrm>
          <a:prstGeom prst="rect">
            <a:avLst/>
          </a:prstGeom>
          <a:noFill/>
        </p:spPr>
        <p:txBody>
          <a:bodyPr wrap="square" rtlCol="0">
            <a:spAutoFit/>
          </a:bodyPr>
          <a:lstStyle/>
          <a:p>
            <a:r>
              <a:rPr lang="en-US" dirty="0"/>
              <a:t>We performed structured analysis in My SQL to answer key business questions:</a:t>
            </a:r>
          </a:p>
          <a:p>
            <a:r>
              <a:rPr lang="en-US" b="1" dirty="0"/>
              <a:t>1. Revenue by Gender </a:t>
            </a:r>
            <a:r>
              <a:rPr lang="en-US" dirty="0"/>
              <a:t>- Compared total revenue generated by male vs. female  customers.</a:t>
            </a:r>
            <a:endParaRPr lang="en-IN" dirty="0"/>
          </a:p>
        </p:txBody>
      </p:sp>
    </p:spTree>
    <p:extLst>
      <p:ext uri="{BB962C8B-B14F-4D97-AF65-F5344CB8AC3E}">
        <p14:creationId xmlns:p14="http://schemas.microsoft.com/office/powerpoint/2010/main" val="516230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97B5F6C-21CC-358B-6808-A1B0CB6840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9732" y="791296"/>
            <a:ext cx="2019300" cy="1266825"/>
          </a:xfrm>
          <a:prstGeom prst="rect">
            <a:avLst/>
          </a:prstGeom>
        </p:spPr>
      </p:pic>
      <p:sp>
        <p:nvSpPr>
          <p:cNvPr id="9" name="TextBox 8">
            <a:extLst>
              <a:ext uri="{FF2B5EF4-FFF2-40B4-BE49-F238E27FC236}">
                <a16:creationId xmlns:a16="http://schemas.microsoft.com/office/drawing/2014/main" id="{3CE53413-1093-AC3F-90AB-BFFC304424A5}"/>
              </a:ext>
            </a:extLst>
          </p:cNvPr>
          <p:cNvSpPr txBox="1"/>
          <p:nvPr/>
        </p:nvSpPr>
        <p:spPr>
          <a:xfrm>
            <a:off x="1779732" y="1937886"/>
            <a:ext cx="6182013" cy="923330"/>
          </a:xfrm>
          <a:prstGeom prst="rect">
            <a:avLst/>
          </a:prstGeom>
          <a:noFill/>
        </p:spPr>
        <p:txBody>
          <a:bodyPr wrap="square" rtlCol="0">
            <a:spAutoFit/>
          </a:bodyPr>
          <a:lstStyle/>
          <a:p>
            <a:r>
              <a:rPr lang="en-US" b="1" dirty="0"/>
              <a:t>2. High Spending Discount Users </a:t>
            </a:r>
            <a:r>
              <a:rPr lang="en-US" dirty="0"/>
              <a:t>: Identified  customers who used a discount and still spent more than the average purchase amount</a:t>
            </a:r>
            <a:endParaRPr lang="en-IN" dirty="0"/>
          </a:p>
        </p:txBody>
      </p:sp>
      <p:pic>
        <p:nvPicPr>
          <p:cNvPr id="11" name="Picture 10">
            <a:extLst>
              <a:ext uri="{FF2B5EF4-FFF2-40B4-BE49-F238E27FC236}">
                <a16:creationId xmlns:a16="http://schemas.microsoft.com/office/drawing/2014/main" id="{22BE4AEC-2C76-D028-A1DC-A33E511EA3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9732" y="2869173"/>
            <a:ext cx="5934075" cy="1930707"/>
          </a:xfrm>
          <a:prstGeom prst="rect">
            <a:avLst/>
          </a:prstGeom>
        </p:spPr>
      </p:pic>
      <p:sp>
        <p:nvSpPr>
          <p:cNvPr id="14" name="TextBox 13">
            <a:extLst>
              <a:ext uri="{FF2B5EF4-FFF2-40B4-BE49-F238E27FC236}">
                <a16:creationId xmlns:a16="http://schemas.microsoft.com/office/drawing/2014/main" id="{2BB32AE0-6FDF-233F-D148-72EDC54674F4}"/>
              </a:ext>
            </a:extLst>
          </p:cNvPr>
          <p:cNvSpPr txBox="1"/>
          <p:nvPr/>
        </p:nvSpPr>
        <p:spPr>
          <a:xfrm>
            <a:off x="1779732" y="4862370"/>
            <a:ext cx="6385213" cy="646331"/>
          </a:xfrm>
          <a:prstGeom prst="rect">
            <a:avLst/>
          </a:prstGeom>
          <a:noFill/>
        </p:spPr>
        <p:txBody>
          <a:bodyPr wrap="square" rtlCol="0">
            <a:spAutoFit/>
          </a:bodyPr>
          <a:lstStyle/>
          <a:p>
            <a:r>
              <a:rPr lang="en-US" b="1" dirty="0"/>
              <a:t>3. Spending of Subscriber &amp; Non Subscriber </a:t>
            </a:r>
            <a:r>
              <a:rPr lang="en-US" dirty="0"/>
              <a:t>:subscribed customers spend more on average than non-subscribed customer</a:t>
            </a:r>
            <a:endParaRPr lang="en-IN" dirty="0"/>
          </a:p>
        </p:txBody>
      </p:sp>
      <p:pic>
        <p:nvPicPr>
          <p:cNvPr id="16" name="Picture 15">
            <a:extLst>
              <a:ext uri="{FF2B5EF4-FFF2-40B4-BE49-F238E27FC236}">
                <a16:creationId xmlns:a16="http://schemas.microsoft.com/office/drawing/2014/main" id="{56E37175-EF15-C3DA-AC2F-A91A515B01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9732" y="5571191"/>
            <a:ext cx="2895600" cy="1161473"/>
          </a:xfrm>
          <a:prstGeom prst="rect">
            <a:avLst/>
          </a:prstGeom>
        </p:spPr>
      </p:pic>
    </p:spTree>
    <p:extLst>
      <p:ext uri="{BB962C8B-B14F-4D97-AF65-F5344CB8AC3E}">
        <p14:creationId xmlns:p14="http://schemas.microsoft.com/office/powerpoint/2010/main" val="2997540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0DAA8F-36C1-9A3C-1CC8-01B210C4CD7E}"/>
              </a:ext>
            </a:extLst>
          </p:cNvPr>
          <p:cNvSpPr txBox="1"/>
          <p:nvPr/>
        </p:nvSpPr>
        <p:spPr>
          <a:xfrm>
            <a:off x="2036617" y="766618"/>
            <a:ext cx="5952838" cy="646331"/>
          </a:xfrm>
          <a:prstGeom prst="rect">
            <a:avLst/>
          </a:prstGeom>
          <a:noFill/>
        </p:spPr>
        <p:txBody>
          <a:bodyPr wrap="square" rtlCol="0">
            <a:spAutoFit/>
          </a:bodyPr>
          <a:lstStyle/>
          <a:p>
            <a:r>
              <a:rPr lang="en-US" b="1" dirty="0"/>
              <a:t>4.Most Purchased Items </a:t>
            </a:r>
            <a:r>
              <a:rPr lang="en-US" dirty="0"/>
              <a:t>:  Identified top 3 purchased products in each category.</a:t>
            </a:r>
            <a:endParaRPr lang="en-IN" dirty="0"/>
          </a:p>
        </p:txBody>
      </p:sp>
      <p:pic>
        <p:nvPicPr>
          <p:cNvPr id="6" name="Picture 5">
            <a:extLst>
              <a:ext uri="{FF2B5EF4-FFF2-40B4-BE49-F238E27FC236}">
                <a16:creationId xmlns:a16="http://schemas.microsoft.com/office/drawing/2014/main" id="{178CC301-BCC3-469E-95D9-698F5ED566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6617" y="1412949"/>
            <a:ext cx="4438650" cy="2466975"/>
          </a:xfrm>
          <a:prstGeom prst="rect">
            <a:avLst/>
          </a:prstGeom>
        </p:spPr>
      </p:pic>
      <p:sp>
        <p:nvSpPr>
          <p:cNvPr id="8" name="TextBox 7">
            <a:extLst>
              <a:ext uri="{FF2B5EF4-FFF2-40B4-BE49-F238E27FC236}">
                <a16:creationId xmlns:a16="http://schemas.microsoft.com/office/drawing/2014/main" id="{1E5F4ED1-14E5-73DC-57F7-EEA94797BF5A}"/>
              </a:ext>
            </a:extLst>
          </p:cNvPr>
          <p:cNvSpPr txBox="1"/>
          <p:nvPr/>
        </p:nvSpPr>
        <p:spPr>
          <a:xfrm>
            <a:off x="2036616" y="3888510"/>
            <a:ext cx="6045201" cy="646331"/>
          </a:xfrm>
          <a:prstGeom prst="rect">
            <a:avLst/>
          </a:prstGeom>
          <a:noFill/>
        </p:spPr>
        <p:txBody>
          <a:bodyPr wrap="square" rtlCol="0">
            <a:spAutoFit/>
          </a:bodyPr>
          <a:lstStyle/>
          <a:p>
            <a:r>
              <a:rPr lang="en-US" dirty="0"/>
              <a:t> </a:t>
            </a:r>
            <a:r>
              <a:rPr lang="en-US" b="1" dirty="0"/>
              <a:t>Highest Rated Products : </a:t>
            </a:r>
            <a:r>
              <a:rPr lang="en-US" dirty="0"/>
              <a:t>Identified top 5 products with the highest average review rating.</a:t>
            </a:r>
            <a:endParaRPr lang="en-IN" dirty="0"/>
          </a:p>
        </p:txBody>
      </p:sp>
      <p:pic>
        <p:nvPicPr>
          <p:cNvPr id="10" name="Picture 9">
            <a:extLst>
              <a:ext uri="{FF2B5EF4-FFF2-40B4-BE49-F238E27FC236}">
                <a16:creationId xmlns:a16="http://schemas.microsoft.com/office/drawing/2014/main" id="{97EA344D-5C72-2243-A979-B0F6DAC07F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6616" y="4581525"/>
            <a:ext cx="2951020" cy="2124379"/>
          </a:xfrm>
          <a:prstGeom prst="rect">
            <a:avLst/>
          </a:prstGeom>
        </p:spPr>
      </p:pic>
    </p:spTree>
    <p:extLst>
      <p:ext uri="{BB962C8B-B14F-4D97-AF65-F5344CB8AC3E}">
        <p14:creationId xmlns:p14="http://schemas.microsoft.com/office/powerpoint/2010/main" val="1427795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E6864F-206A-8BEB-CC29-48149DCC0B63}"/>
              </a:ext>
            </a:extLst>
          </p:cNvPr>
          <p:cNvSpPr txBox="1"/>
          <p:nvPr/>
        </p:nvSpPr>
        <p:spPr>
          <a:xfrm>
            <a:off x="1736433" y="138546"/>
            <a:ext cx="4211782" cy="461665"/>
          </a:xfrm>
          <a:prstGeom prst="rect">
            <a:avLst/>
          </a:prstGeom>
          <a:noFill/>
        </p:spPr>
        <p:txBody>
          <a:bodyPr wrap="square" rtlCol="0">
            <a:spAutoFit/>
          </a:bodyPr>
          <a:lstStyle/>
          <a:p>
            <a:r>
              <a:rPr lang="en-US" sz="2400" b="1" dirty="0">
                <a:solidFill>
                  <a:srgbClr val="0070C0"/>
                </a:solidFill>
              </a:rPr>
              <a:t>5.Dashboard in Power BI</a:t>
            </a:r>
            <a:endParaRPr lang="en-IN" sz="2400" b="1" dirty="0">
              <a:solidFill>
                <a:srgbClr val="0070C0"/>
              </a:solidFill>
            </a:endParaRPr>
          </a:p>
        </p:txBody>
      </p:sp>
      <p:sp>
        <p:nvSpPr>
          <p:cNvPr id="7" name="TextBox 6">
            <a:extLst>
              <a:ext uri="{FF2B5EF4-FFF2-40B4-BE49-F238E27FC236}">
                <a16:creationId xmlns:a16="http://schemas.microsoft.com/office/drawing/2014/main" id="{46B044B8-222B-A78C-644D-C9A0EA4695F9}"/>
              </a:ext>
            </a:extLst>
          </p:cNvPr>
          <p:cNvSpPr txBox="1"/>
          <p:nvPr/>
        </p:nvSpPr>
        <p:spPr>
          <a:xfrm>
            <a:off x="1976581" y="526320"/>
            <a:ext cx="7795491" cy="369332"/>
          </a:xfrm>
          <a:prstGeom prst="rect">
            <a:avLst/>
          </a:prstGeom>
          <a:noFill/>
        </p:spPr>
        <p:txBody>
          <a:bodyPr wrap="square">
            <a:spAutoFit/>
          </a:bodyPr>
          <a:lstStyle/>
          <a:p>
            <a:r>
              <a:rPr lang="en-IN" dirty="0"/>
              <a:t>Finally, we built an interactive dashboard in Power Bl to present insights visually.</a:t>
            </a:r>
          </a:p>
        </p:txBody>
      </p:sp>
      <p:pic>
        <p:nvPicPr>
          <p:cNvPr id="9" name="Picture 8">
            <a:extLst>
              <a:ext uri="{FF2B5EF4-FFF2-40B4-BE49-F238E27FC236}">
                <a16:creationId xmlns:a16="http://schemas.microsoft.com/office/drawing/2014/main" id="{C41F3422-C781-EFE4-A24E-AC6655B649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6433" y="895652"/>
            <a:ext cx="9014114" cy="5638240"/>
          </a:xfrm>
          <a:prstGeom prst="rect">
            <a:avLst/>
          </a:prstGeom>
        </p:spPr>
      </p:pic>
    </p:spTree>
    <p:extLst>
      <p:ext uri="{BB962C8B-B14F-4D97-AF65-F5344CB8AC3E}">
        <p14:creationId xmlns:p14="http://schemas.microsoft.com/office/powerpoint/2010/main" val="1490687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3C7384-FDBB-45BD-3F6A-6A912D5F12DA}"/>
              </a:ext>
            </a:extLst>
          </p:cNvPr>
          <p:cNvSpPr txBox="1"/>
          <p:nvPr/>
        </p:nvSpPr>
        <p:spPr>
          <a:xfrm>
            <a:off x="1653310" y="766619"/>
            <a:ext cx="4655127" cy="400110"/>
          </a:xfrm>
          <a:prstGeom prst="rect">
            <a:avLst/>
          </a:prstGeom>
          <a:noFill/>
        </p:spPr>
        <p:txBody>
          <a:bodyPr wrap="square" rtlCol="0">
            <a:spAutoFit/>
          </a:bodyPr>
          <a:lstStyle/>
          <a:p>
            <a:r>
              <a:rPr lang="en-IN" sz="2000" b="1" dirty="0">
                <a:solidFill>
                  <a:srgbClr val="0070C0"/>
                </a:solidFill>
              </a:rPr>
              <a:t>6. Business Recommendations</a:t>
            </a:r>
          </a:p>
        </p:txBody>
      </p:sp>
      <p:sp>
        <p:nvSpPr>
          <p:cNvPr id="5" name="TextBox 4">
            <a:extLst>
              <a:ext uri="{FF2B5EF4-FFF2-40B4-BE49-F238E27FC236}">
                <a16:creationId xmlns:a16="http://schemas.microsoft.com/office/drawing/2014/main" id="{A263517C-6054-A638-32D7-F1BB07752277}"/>
              </a:ext>
            </a:extLst>
          </p:cNvPr>
          <p:cNvSpPr txBox="1"/>
          <p:nvPr/>
        </p:nvSpPr>
        <p:spPr>
          <a:xfrm>
            <a:off x="1939637" y="1379684"/>
            <a:ext cx="7287491" cy="369332"/>
          </a:xfrm>
          <a:prstGeom prst="rect">
            <a:avLst/>
          </a:prstGeom>
          <a:noFill/>
        </p:spPr>
        <p:txBody>
          <a:bodyPr wrap="square" rtlCol="0">
            <a:spAutoFit/>
          </a:bodyPr>
          <a:lstStyle/>
          <a:p>
            <a:r>
              <a:rPr lang="en-US" b="1" dirty="0"/>
              <a:t>   • Boost Subscriptions </a:t>
            </a:r>
            <a:r>
              <a:rPr lang="en-US" dirty="0"/>
              <a:t>- Promote exclusive benefits for subscribers.  </a:t>
            </a:r>
            <a:endParaRPr lang="en-IN" dirty="0"/>
          </a:p>
        </p:txBody>
      </p:sp>
      <p:sp>
        <p:nvSpPr>
          <p:cNvPr id="7" name="TextBox 6">
            <a:extLst>
              <a:ext uri="{FF2B5EF4-FFF2-40B4-BE49-F238E27FC236}">
                <a16:creationId xmlns:a16="http://schemas.microsoft.com/office/drawing/2014/main" id="{5F20F700-25E7-B7B1-556D-D924F3C9C264}"/>
              </a:ext>
            </a:extLst>
          </p:cNvPr>
          <p:cNvSpPr txBox="1"/>
          <p:nvPr/>
        </p:nvSpPr>
        <p:spPr>
          <a:xfrm>
            <a:off x="2115128" y="1961971"/>
            <a:ext cx="5708072" cy="646331"/>
          </a:xfrm>
          <a:prstGeom prst="rect">
            <a:avLst/>
          </a:prstGeom>
          <a:noFill/>
        </p:spPr>
        <p:txBody>
          <a:bodyPr wrap="square" rtlCol="0">
            <a:spAutoFit/>
          </a:bodyPr>
          <a:lstStyle/>
          <a:p>
            <a:r>
              <a:rPr lang="en-US" dirty="0"/>
              <a:t>• </a:t>
            </a:r>
            <a:r>
              <a:rPr lang="en-US" b="1" dirty="0"/>
              <a:t>Customer Loyalty Programs </a:t>
            </a:r>
            <a:r>
              <a:rPr lang="en-US" dirty="0"/>
              <a:t>- Reward repeat buyers to move them into the "Loyal" segment.</a:t>
            </a:r>
            <a:endParaRPr lang="en-IN" dirty="0"/>
          </a:p>
        </p:txBody>
      </p:sp>
      <p:sp>
        <p:nvSpPr>
          <p:cNvPr id="9" name="TextBox 8">
            <a:extLst>
              <a:ext uri="{FF2B5EF4-FFF2-40B4-BE49-F238E27FC236}">
                <a16:creationId xmlns:a16="http://schemas.microsoft.com/office/drawing/2014/main" id="{661E243A-27B5-F3A1-FF8A-EBB00C5BFFD6}"/>
              </a:ext>
            </a:extLst>
          </p:cNvPr>
          <p:cNvSpPr txBox="1"/>
          <p:nvPr/>
        </p:nvSpPr>
        <p:spPr>
          <a:xfrm>
            <a:off x="2115128" y="2874925"/>
            <a:ext cx="6382328" cy="646331"/>
          </a:xfrm>
          <a:prstGeom prst="rect">
            <a:avLst/>
          </a:prstGeom>
          <a:noFill/>
        </p:spPr>
        <p:txBody>
          <a:bodyPr wrap="square" rtlCol="0">
            <a:spAutoFit/>
          </a:bodyPr>
          <a:lstStyle/>
          <a:p>
            <a:r>
              <a:rPr lang="en-US" b="1" dirty="0"/>
              <a:t>• Review Discount Policy </a:t>
            </a:r>
            <a:r>
              <a:rPr lang="en-US" dirty="0"/>
              <a:t>- Balance sales boosts with margin control.</a:t>
            </a:r>
            <a:endParaRPr lang="en-IN" dirty="0"/>
          </a:p>
        </p:txBody>
      </p:sp>
      <p:sp>
        <p:nvSpPr>
          <p:cNvPr id="12" name="TextBox 11">
            <a:extLst>
              <a:ext uri="{FF2B5EF4-FFF2-40B4-BE49-F238E27FC236}">
                <a16:creationId xmlns:a16="http://schemas.microsoft.com/office/drawing/2014/main" id="{C3827FAA-421C-0ED4-FFFF-161DB4A26F1C}"/>
              </a:ext>
            </a:extLst>
          </p:cNvPr>
          <p:cNvSpPr txBox="1"/>
          <p:nvPr/>
        </p:nvSpPr>
        <p:spPr>
          <a:xfrm>
            <a:off x="2115128" y="3860685"/>
            <a:ext cx="6483927" cy="646331"/>
          </a:xfrm>
          <a:prstGeom prst="rect">
            <a:avLst/>
          </a:prstGeom>
          <a:noFill/>
        </p:spPr>
        <p:txBody>
          <a:bodyPr wrap="square" rtlCol="0">
            <a:spAutoFit/>
          </a:bodyPr>
          <a:lstStyle/>
          <a:p>
            <a:r>
              <a:rPr lang="en-US" b="1" dirty="0"/>
              <a:t>• Product Positioning </a:t>
            </a:r>
            <a:r>
              <a:rPr lang="en-US" dirty="0"/>
              <a:t>- Highlight top-rated and best-selling products in campaigns.</a:t>
            </a:r>
            <a:endParaRPr lang="en-IN" dirty="0"/>
          </a:p>
        </p:txBody>
      </p:sp>
      <p:sp>
        <p:nvSpPr>
          <p:cNvPr id="14" name="TextBox 13">
            <a:extLst>
              <a:ext uri="{FF2B5EF4-FFF2-40B4-BE49-F238E27FC236}">
                <a16:creationId xmlns:a16="http://schemas.microsoft.com/office/drawing/2014/main" id="{204F0F8B-24B7-C2C6-F17D-A1D9B2B4C393}"/>
              </a:ext>
            </a:extLst>
          </p:cNvPr>
          <p:cNvSpPr txBox="1"/>
          <p:nvPr/>
        </p:nvSpPr>
        <p:spPr>
          <a:xfrm>
            <a:off x="2115128" y="4846445"/>
            <a:ext cx="6557819" cy="646331"/>
          </a:xfrm>
          <a:prstGeom prst="rect">
            <a:avLst/>
          </a:prstGeom>
          <a:noFill/>
        </p:spPr>
        <p:txBody>
          <a:bodyPr wrap="square" rtlCol="0">
            <a:spAutoFit/>
          </a:bodyPr>
          <a:lstStyle/>
          <a:p>
            <a:r>
              <a:rPr lang="en-US" b="1" dirty="0"/>
              <a:t>• Targeted Marketing </a:t>
            </a:r>
            <a:r>
              <a:rPr lang="en-US" dirty="0"/>
              <a:t>- Focus efforts on high-revenue age groups and express-shipping users</a:t>
            </a:r>
            <a:endParaRPr lang="en-IN" dirty="0"/>
          </a:p>
        </p:txBody>
      </p:sp>
    </p:spTree>
    <p:extLst>
      <p:ext uri="{BB962C8B-B14F-4D97-AF65-F5344CB8AC3E}">
        <p14:creationId xmlns:p14="http://schemas.microsoft.com/office/powerpoint/2010/main" val="908679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TotalTime>
  <Words>505</Words>
  <Application>Microsoft Office PowerPoint</Application>
  <PresentationFormat>Widescreen</PresentationFormat>
  <Paragraphs>41</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Sourav Bhuyan</dc:creator>
  <cp:lastModifiedBy>Sourav Bhuyan</cp:lastModifiedBy>
  <cp:revision>4</cp:revision>
  <dcterms:created xsi:type="dcterms:W3CDTF">2026-09-09T04:01:38Z</dcterms:created>
  <dcterms:modified xsi:type="dcterms:W3CDTF">2026-09-09T08:48:32Z</dcterms:modified>
</cp:coreProperties>
</file>